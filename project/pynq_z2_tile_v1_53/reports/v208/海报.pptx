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b020706724cd8" /><Relationship Type="http://schemas.openxmlformats.org/officeDocument/2006/relationships/extended-properties" Target="/docProps/app.xml" Id="R1a332e2e46b445c9" /><Relationship Type="http://schemas.openxmlformats.org/officeDocument/2006/relationships/officeDocument" Target="/ppt/presentation.xml" Id="R0e4cb495eb5b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af819c36e24b79"/>
  </p:sldMasterIdLst>
  <p:notesMasterIdLst>
    <p:notesMasterId xmlns:r="http://schemas.openxmlformats.org/officeDocument/2006/relationships" r:id="R61964e27e5b54d12"/>
  </p:notesMasterIdLst>
  <p:sldIdLst>
    <p:sldId xmlns:r="http://schemas.openxmlformats.org/officeDocument/2006/relationships" id="256" r:id="Ra0094e44c8a94ef6"/>
    <p:sldId xmlns:r="http://schemas.openxmlformats.org/officeDocument/2006/relationships" id="257" r:id="Rea258c6f6f754c7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8d7895eb3b44a8" /><Relationship Type="http://schemas.openxmlformats.org/officeDocument/2006/relationships/slideMaster" Target="/ppt/slideMasters/slideMaster1.xml" Id="R55af819c36e24b79" /><Relationship Type="http://schemas.openxmlformats.org/officeDocument/2006/relationships/notesMaster" Target="/ppt/notesMasters/notesMaster1.xml" Id="R61964e27e5b54d12" /><Relationship Type="http://schemas.openxmlformats.org/officeDocument/2006/relationships/presProps" Target="/ppt/presProps.xml" Id="R4a044c3a620a415a" /><Relationship Type="http://schemas.openxmlformats.org/officeDocument/2006/relationships/viewProps" Target="/ppt/viewProps.xml" Id="R5cca02fa7ecf4fd3" /><Relationship Type="http://schemas.openxmlformats.org/officeDocument/2006/relationships/tableStyles" Target="/ppt/tableStyles.xml" Id="Rade65ee61acc4641" /><Relationship Type="http://schemas.openxmlformats.org/officeDocument/2006/relationships/slide" Target="/ppt/slides/slide1.xml" Id="Ra0094e44c8a94ef6" /><Relationship Type="http://schemas.openxmlformats.org/officeDocument/2006/relationships/slide" Target="/ppt/slides/slide2.xml" Id="Rea258c6f6f754c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789db73fd8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c374fa70844f2" /><Relationship Type="http://schemas.openxmlformats.org/officeDocument/2006/relationships/notesMaster" Target="/ppt/notesMasters/notesMaster1.xml" Id="R88a45e86b05a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5222c618e48ec" /><Relationship Type="http://schemas.openxmlformats.org/officeDocument/2006/relationships/notesMaster" Target="/ppt/notesMasters/notesMaster1.xml" Id="R07be984a328546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TileLab poster. Engineering release V202, report V203. No engineering modification in this poster.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Template: AMD_poster_template.pptx supplied by the user. SHA256 b99946c7443efd2a169035159185ed45b0021272e03d180786c2718ec40259df. Source dimensions 12192000 by 6858000 EMU. Title Times New Roman 24 pt, body Calibri 11 pt.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Evidence: D:/Vivado/TileLab_SingleTile_V164_20261019/project/pynq_z2_tile_v1_53/reports/v203/materials/evidence/V202_acceptance.json. exact117: 0.12471544399737017 s kernel mean, 0.5017914923060184 s transfer plus inference mean. This timing excludes image decoding, UI review and saving. 117 public development photos, 33 normal and 84 defective. All score/mask/meta outputs matched archived reference except frame sequence. Repeatedly exposed tuning data, not an independent blind test.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100-cycle test used scripted review with a 0.25 s hold. It verifies logical control software and physical FPGA inference, not real human review or physical actuation. No conveyor, camera or fixed-light rig has been validated. Camera/light and mechanical station integration are future work.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Real photograph and actual FPGA overlay: D:/Vivado/TileLab_RealPhotos_20261020/v202_report_images/defect.png. Provenance: cycles.json in that directory. Public MVTec AD tile photo. License CC BY-NC-SA 4.0. Source: https://huggingface.co/datasets/Voxel51/mvtec-ad and original dataset https://www.mvtec.com/company/research/datasets/mvtec-ad. Photographs are not AI-generated. The overlay shows a coarse anomaly region, not pixel-accurate crack segmentation.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Resources: frozen implementation utilization report. LUT 42482/53200, FF60203/106400, BRAM127.5/140 (36Kb equivalents), DSP218/220. Setup +0.013 ns, hold +0.024 ns, DRC0. Do not infer power, cost or CPU speedup.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MobileNetV2 and reference-distance anomaly scoring are prior methods. Contributions are complete PL mapping, resource-constrained integer implementation and traceable reference/review workflow. INT32 applies to convolution accumulation, not every later arithmetic stage.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Scope: fixed material references and controlled imaging. Runtime CPU/GPU visual inference is absent, but PC and ARM control/transport remain. No continuous real-video frame-rate claim or industrial deployment qualification.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TileLab poster. Engineering release V202, report V203. No engineering modification in this poster.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Template: AMD_poster_template.pptx supplied by the user. SHA256 b99946c7443efd2a169035159185ed45b0021272e03d180786c2718ec40259df. Source dimensions 12192000 by 6858000 EMU. Title Times New Roman 24 pt, body Calibri 11 pt.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Evidence: D:/Vivado/TileLab_SingleTile_V164_20261019/project/pynq_z2_tile_v1_53/reports/v203/materials/evidence/V202_acceptance.json. exact117: 0.12471544399737017 s kernel mean, 0.5017914923060184 s transfer plus inference mean. This timing excludes image decoding, UI review and saving. 117 public development photos, 33 normal and 84 defective. All score/mask/meta outputs matched archived reference except frame sequence. Repeatedly exposed tuning data, not an independent blind test.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100-cycle test used scripted review with a 0.25 s hold. It verifies logical control software and physical FPGA inference, not real human review or physical actuation. No conveyor, camera or fixed-light rig has been validated. Camera/light and mechanical station integration are future work.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Real photograph and actual FPGA overlay: D:/Vivado/TileLab_RealPhotos_20261020/v202_report_images/defect.png. Provenance: cycles.json in that directory. Public MVTec AD tile photo. License CC BY-NC-SA 4.0. Source: https://huggingface.co/datasets/Voxel51/mvtec-ad and original dataset https://www.mvtec.com/company/research/datasets/mvtec-ad. Photographs are not AI-generated. The overlay shows a coarse anomaly region, not pixel-accurate crack segmentation.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Resources: frozen implementation utilization report. LUT 42482/53200, FF60203/106400, BRAM127.5/140 (36Kb equivalents), DSP218/220. Setup +0.013 ns, hold +0.024 ns, DRC0. Do not infer power, cost or CPU speedup.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MobileNetV2 and reference-distance anomaly scoring are prior methods. Contributions are complete PL mapping, resource-constrained integer implementation and traceable reference/review workflow. INT32 applies to convolution accumulation, not every later arithmetic stage.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Scope: fixed material references and controlled imaging. Runtime CPU/GPU visual inference is absent, but PC and ARM control/transport remain. No continuous real-video frame-rate claim or industrial deployment qualification.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5ff00f3464a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11b1021724a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b0c3db9ae4f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ff15cc9ee4a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a4a85b76441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f7d64d2e947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4175A9-A071-48DC-A59A-8584BFF04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E01665-AB54-4E63-8EA1-8A1BA9395E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76EE24-6671-4B95-A7D7-D7E911E5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915E38-573C-4F83-BFE4-1D0A31715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E7A7E0-AA1C-4D45-A66C-05BBCFB95E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EC9145-7EF9-4E73-AAF0-06F13DC39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614678-EF99-489E-839E-7C428C9CB4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5DD08F-A7B6-4F1A-95EC-D59140E96B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42FFE1-015E-417B-8436-8C6264823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5C8A19-A983-464F-9375-6D67CE6F7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a7ab1325c4412" /><Relationship Type="http://schemas.openxmlformats.org/officeDocument/2006/relationships/slideLayout" Target="/ppt/slideLayouts/slideLayout1.xml" Id="Rc0374a2891b24f6b" /><Relationship Type="http://schemas.openxmlformats.org/officeDocument/2006/relationships/slideLayout" Target="/ppt/slideLayouts/slideLayout2.xml" Id="Radf0284f19e44e1f" /><Relationship Type="http://schemas.openxmlformats.org/officeDocument/2006/relationships/slideLayout" Target="/ppt/slideLayouts/slideLayout3.xml" Id="Rb81a07e9189d43ec" /><Relationship Type="http://schemas.openxmlformats.org/officeDocument/2006/relationships/slideLayout" Target="/ppt/slideLayouts/slideLayout4.xml" Id="R392357c6eab74048" /><Relationship Type="http://schemas.openxmlformats.org/officeDocument/2006/relationships/slideLayout" Target="/ppt/slideLayouts/slideLayout5.xml" Id="R081988c12ece404f" /><Relationship Type="http://schemas.openxmlformats.org/officeDocument/2006/relationships/slideLayout" Target="/ppt/slideLayouts/slideLayout6.xml" Id="Rcf3fe7c48980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74a2891b24f6b"/>
    <p:sldLayoutId xmlns:r="http://schemas.openxmlformats.org/officeDocument/2006/relationships" id="2147483650" r:id="Radf0284f19e44e1f"/>
    <p:sldLayoutId xmlns:r="http://schemas.openxmlformats.org/officeDocument/2006/relationships" id="2147483651" r:id="Rb81a07e9189d43ec"/>
    <p:sldLayoutId xmlns:r="http://schemas.openxmlformats.org/officeDocument/2006/relationships" id="2147483652" r:id="R392357c6eab74048"/>
    <p:sldLayoutId xmlns:r="http://schemas.openxmlformats.org/officeDocument/2006/relationships" id="2147483653" r:id="R081988c12ece404f"/>
    <p:sldLayoutId xmlns:r="http://schemas.openxmlformats.org/officeDocument/2006/relationships" id="2147483654" r:id="Rcf3fe7c48980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5b5c187b3443b" /><Relationship Type="http://schemas.openxmlformats.org/officeDocument/2006/relationships/image" Target="/ppt/media/image.png" Id="R9c8b282692b44cff" /><Relationship Type="http://schemas.openxmlformats.org/officeDocument/2006/relationships/image" Target="/ppt/media/image2.png" Id="Ra735620670cc42b8" /><Relationship Type="http://schemas.openxmlformats.org/officeDocument/2006/relationships/notesSlide" Target="/ppt/notesSlides/notesSlide1.xml" Id="Rf8f5af5569c4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04a6051c334ecb" /><Relationship Type="http://schemas.openxmlformats.org/officeDocument/2006/relationships/image" Target="/ppt/media/image.png" Id="R97129d2d692d4d13" /><Relationship Type="http://schemas.openxmlformats.org/officeDocument/2006/relationships/image" Target="/ppt/media/image2.png" Id="Rb5dedbb2115a4bdc" /><Relationship Type="http://schemas.openxmlformats.org/officeDocument/2006/relationships/notesSlide" Target="/ppt/notesSlides/notesSlide2.xml" Id="R19be734eb0ce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直接箭头连接符 50">
            <a:extLst xmlns:a="http://schemas.openxmlformats.org/drawingml/2006/main">
              <a:ext uri="{FF2B5EF4-FFF2-40B4-BE49-F238E27FC236}">
                <a16:creationId xmlns:a16="http://schemas.microsoft.com/office/drawing/2014/main" id="{19E1A6D1-916B-45FD-99E2-51918CDD1A95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6762750" y="6353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49" name="直接箭头连接符 48">
            <a:extLst xmlns:a="http://schemas.openxmlformats.org/drawingml/2006/main">
              <a:ext uri="{FF2B5EF4-FFF2-40B4-BE49-F238E27FC236}">
                <a16:creationId xmlns:a16="http://schemas.microsoft.com/office/drawing/2014/main" id="{1D8497AA-0955-4AA2-A3B5-DC126127242C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5819775" y="6353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47" name="直接箭头连接符 46">
            <a:extLst xmlns:a="http://schemas.openxmlformats.org/drawingml/2006/main">
              <a:ext uri="{FF2B5EF4-FFF2-40B4-BE49-F238E27FC236}">
                <a16:creationId xmlns:a16="http://schemas.microsoft.com/office/drawing/2014/main" id="{F7C4F37B-3965-4953-9D61-834D929B2CEB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4876800" y="6353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37" name="直接箭头连接符 36">
            <a:extLst xmlns:a="http://schemas.openxmlformats.org/drawingml/2006/main">
              <a:ext uri="{FF2B5EF4-FFF2-40B4-BE49-F238E27FC236}">
                <a16:creationId xmlns:a16="http://schemas.microsoft.com/office/drawing/2014/main" id="{08FC987B-BC93-4720-A458-1492C21F96BE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458200" y="44672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73C30"/>
            </a:solidFill>
            <a:tailEnd type="triangle" w="sm" len="sm"/>
          </a:ln>
        </p:spPr>
      </p:cxnSp>
      <p:cxnSp>
        <p:nvCxnSpPr>
          <p:cNvPr id="36" name="直接箭头连接符 35">
            <a:extLst xmlns:a="http://schemas.openxmlformats.org/drawingml/2006/main">
              <a:ext uri="{FF2B5EF4-FFF2-40B4-BE49-F238E27FC236}">
                <a16:creationId xmlns:a16="http://schemas.microsoft.com/office/drawing/2014/main" id="{42BC9668-7087-41E9-BC9E-C7036CB58030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248400" y="44672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73C30"/>
            </a:solidFill>
            <a:tailEnd type="triangle" w="sm" len="sm"/>
          </a:ln>
        </p:spPr>
      </p:cxnSp>
      <p:cxnSp>
        <p:nvCxnSpPr>
          <p:cNvPr id="35" name="直接箭头连接符 34">
            <a:extLst xmlns:a="http://schemas.openxmlformats.org/drawingml/2006/main">
              <a:ext uri="{FF2B5EF4-FFF2-40B4-BE49-F238E27FC236}">
                <a16:creationId xmlns:a16="http://schemas.microsoft.com/office/drawing/2014/main" id="{EF68480B-19C4-4323-B7AC-7A51B25505A0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752850" y="44672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34" name="直接箭头连接符 33">
            <a:extLst xmlns:a="http://schemas.openxmlformats.org/drawingml/2006/main">
              <a:ext uri="{FF2B5EF4-FFF2-40B4-BE49-F238E27FC236}">
                <a16:creationId xmlns:a16="http://schemas.microsoft.com/office/drawing/2014/main" id="{9B77F3D9-4007-4D0F-8C63-25CC9A7CECA3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981200" y="44672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sp>
        <p:nvSpPr>
          <p:cNvPr id="59" name="Dark hero background">
            <a:extLst xmlns:a="http://schemas.openxmlformats.org/drawingml/2006/main">
              <a:ext uri="{FF2B5EF4-FFF2-40B4-BE49-F238E27FC236}">
                <a16:creationId xmlns:a16="http://schemas.microsoft.com/office/drawing/2014/main" id="{9177F0AA-7814-4B6D-A93D-B9DB65A7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latform eyebrow">
            <a:extLst xmlns:a="http://schemas.openxmlformats.org/drawingml/2006/main">
              <a:ext uri="{FF2B5EF4-FFF2-40B4-BE49-F238E27FC236}">
                <a16:creationId xmlns:a16="http://schemas.microsoft.com/office/drawing/2014/main" id="{67B33861-BC8F-450B-9EA3-BE033C7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PYNQ-Z2 / ZYNQ-7020</a:t>
            </a:r>
          </a:p>
        </p:txBody>
      </p:sp>
      <p:sp>
        <p:nvSpPr>
          <p:cNvPr id="3" name="Project name">
            <a:extLst xmlns:a="http://schemas.openxmlformats.org/drawingml/2006/main">
              <a:ext uri="{FF2B5EF4-FFF2-40B4-BE49-F238E27FC236}">
                <a16:creationId xmlns:a16="http://schemas.microsoft.com/office/drawing/2014/main" id="{59B55649-680A-43FF-96DE-C7DEBBE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5300"/>
            <a:ext cx="46196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Multi-operator Low-latency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Industrial Vision Detection System</a:t>
            </a:r>
          </a:p>
        </p:txBody>
      </p:sp>
      <p:sp>
        <p:nvSpPr>
          <p:cNvPr id="4" name="Project subject">
            <a:extLst xmlns:a="http://schemas.openxmlformats.org/drawingml/2006/main">
              <a:ext uri="{FF2B5EF4-FFF2-40B4-BE49-F238E27FC236}">
                <a16:creationId xmlns:a16="http://schemas.microsoft.com/office/drawing/2014/main" id="{B6371FB3-0501-4123-980A-A04BC985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24000"/>
            <a:ext cx="461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FPGA-based ceramic tile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surface-defect screening</a:t>
            </a:r>
          </a:p>
        </p:txBody>
      </p:sp>
      <p:sp>
        <p:nvSpPr>
          <p:cNvPr id="5" name="Project context">
            <a:extLst xmlns:a="http://schemas.openxmlformats.org/drawingml/2006/main">
              <a:ext uri="{FF2B5EF4-FFF2-40B4-BE49-F238E27FC236}">
                <a16:creationId xmlns:a16="http://schemas.microsoft.com/office/drawing/2014/main" id="{623086E3-14B4-475F-AB60-B5B6112A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860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Real-photo conveyor simulation with FPGA detection.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No alarm: automatic pass. Alarm: stop for human review.</a:t>
            </a:r>
          </a:p>
        </p:txBody>
      </p:sp>
      <p:sp>
        <p:nvSpPr>
          <p:cNvPr id="6" name="PL latency">
            <a:extLst xmlns:a="http://schemas.openxmlformats.org/drawingml/2006/main">
              <a:ext uri="{FF2B5EF4-FFF2-40B4-BE49-F238E27FC236}">
                <a16:creationId xmlns:a16="http://schemas.microsoft.com/office/drawing/2014/main" id="{DB2739FF-F09B-466D-9294-E3D92FF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67025"/>
            <a:ext cx="140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124.72</a:t>
            </a:r>
          </a:p>
        </p:txBody>
      </p:sp>
      <p:sp>
        <p:nvSpPr>
          <p:cNvPr id="7" name="PL latency unit">
            <a:extLst xmlns:a="http://schemas.openxmlformats.org/drawingml/2006/main">
              <a:ext uri="{FF2B5EF4-FFF2-40B4-BE49-F238E27FC236}">
                <a16:creationId xmlns:a16="http://schemas.microsoft.com/office/drawing/2014/main" id="{1133A5C4-79D3-4B7F-94EC-C58CCC62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2895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ms</a:t>
            </a:r>
          </a:p>
        </p:txBody>
      </p:sp>
      <p:sp>
        <p:nvSpPr>
          <p:cNvPr id="8" name="PL latency label">
            <a:extLst xmlns:a="http://schemas.openxmlformats.org/drawingml/2006/main">
              <a:ext uri="{FF2B5EF4-FFF2-40B4-BE49-F238E27FC236}">
                <a16:creationId xmlns:a16="http://schemas.microsoft.com/office/drawing/2014/main" id="{A5C25D26-F554-4391-B129-464EF64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95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PL kernel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mean</a:t>
            </a:r>
          </a:p>
        </p:txBody>
      </p:sp>
      <p:sp>
        <p:nvSpPr>
          <p:cNvPr id="9" name="Transfer latency">
            <a:extLst xmlns:a="http://schemas.openxmlformats.org/drawingml/2006/main">
              <a:ext uri="{FF2B5EF4-FFF2-40B4-BE49-F238E27FC236}">
                <a16:creationId xmlns:a16="http://schemas.microsoft.com/office/drawing/2014/main" id="{4DEB26C5-966B-4899-8736-210351E6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67025"/>
            <a:ext cx="140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501.79</a:t>
            </a:r>
          </a:p>
        </p:txBody>
      </p:sp>
      <p:sp>
        <p:nvSpPr>
          <p:cNvPr id="10" name="Transfer latency unit">
            <a:extLst xmlns:a="http://schemas.openxmlformats.org/drawingml/2006/main">
              <a:ext uri="{FF2B5EF4-FFF2-40B4-BE49-F238E27FC236}">
                <a16:creationId xmlns:a16="http://schemas.microsoft.com/office/drawing/2014/main" id="{0E4BA4A3-D38B-4A58-B30B-112D9F23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ms</a:t>
            </a:r>
          </a:p>
        </p:txBody>
      </p:sp>
      <p:sp>
        <p:nvSpPr>
          <p:cNvPr id="11" name="Transfer latency label">
            <a:extLst xmlns:a="http://schemas.openxmlformats.org/drawingml/2006/main">
              <a:ext uri="{FF2B5EF4-FFF2-40B4-BE49-F238E27FC236}">
                <a16:creationId xmlns:a16="http://schemas.microsoft.com/office/drawing/2014/main" id="{D78121F2-50B8-4993-B0E7-3F16323C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Transfer + inference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mean</a:t>
            </a:r>
          </a:p>
        </p:txBody>
      </p:sp>
      <p:sp>
        <p:nvSpPr>
          <p:cNvPr id="12" name="Reference result">
            <a:extLst xmlns:a="http://schemas.openxmlformats.org/drawingml/2006/main">
              <a:ext uri="{FF2B5EF4-FFF2-40B4-BE49-F238E27FC236}">
                <a16:creationId xmlns:a16="http://schemas.microsoft.com/office/drawing/2014/main" id="{DCB44C01-323F-402A-BC4A-2753CB3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6702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117/117</a:t>
            </a:r>
          </a:p>
        </p:txBody>
      </p:sp>
      <p:sp>
        <p:nvSpPr>
          <p:cNvPr id="13" name="Reference result label">
            <a:extLst xmlns:a="http://schemas.openxmlformats.org/drawingml/2006/main">
              <a:ext uri="{FF2B5EF4-FFF2-40B4-BE49-F238E27FC236}">
                <a16:creationId xmlns:a16="http://schemas.microsoft.com/office/drawing/2014/main" id="{4966C0D7-9459-423A-872C-B51E939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1457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Reference outputs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reproduced</a:t>
            </a:r>
          </a:p>
        </p:txBody>
      </p:sp>
      <p:sp>
        <p:nvSpPr>
          <p:cNvPr id="14" name="Reference set label">
            <a:extLst xmlns:a="http://schemas.openxmlformats.org/drawingml/2006/main">
              <a:ext uri="{FF2B5EF4-FFF2-40B4-BE49-F238E27FC236}">
                <a16:creationId xmlns:a16="http://schemas.microsoft.com/office/drawing/2014/main" id="{9B9A35BD-6FE2-4F97-BCA7-A1ACF09A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38550"/>
            <a:ext cx="1457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117 development images</a:t>
            </a:r>
          </a:p>
        </p:txBody>
      </p:sp>
      <p:sp>
        <p:nvSpPr>
          <p:cNvPr id="15" name="Before photo label">
            <a:extLst xmlns:a="http://schemas.openxmlformats.org/drawingml/2006/main">
              <a:ext uri="{FF2B5EF4-FFF2-40B4-BE49-F238E27FC236}">
                <a16:creationId xmlns:a16="http://schemas.microsoft.com/office/drawing/2014/main" id="{A85D7808-8851-4BB1-8A10-009B9C3D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01   REAL TILE PHOTO</a:t>
            </a:r>
          </a:p>
        </p:txBody>
      </p:sp>
      <p:sp>
        <p:nvSpPr>
          <p:cNvPr id="16" name="After photo label">
            <a:extLst xmlns:a="http://schemas.openxmlformats.org/drawingml/2006/main">
              <a:ext uri="{FF2B5EF4-FFF2-40B4-BE49-F238E27FC236}">
                <a16:creationId xmlns:a16="http://schemas.microsoft.com/office/drawing/2014/main" id="{498EF1EA-EF0E-4D81-B694-A66ACB12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02   FPGA ANOMALY OVERLAY</a:t>
            </a: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259F7F24-A46C-4DA6-9DFC-A4AB8EE41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b282692b44cff"/>
          <a:srcRect xmlns:a="http://schemas.openxmlformats.org/drawingml/2006/main" l="104" t="7463" r="50886" b="4851"/>
          <a:stretch xmlns:a="http://schemas.openxmlformats.org/drawingml/2006/main"/>
        </p:blipFill>
        <p:spPr>
          <a:xfrm xmlns:a="http://schemas.openxmlformats.org/drawingml/2006/main">
            <a:off x="5276850" y="504825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18" name="图片 17">
            <a:extLst xmlns:a="http://schemas.openxmlformats.org/drawingml/2006/main">
              <a:ext uri="{FF2B5EF4-FFF2-40B4-BE49-F238E27FC236}">
                <a16:creationId xmlns:a16="http://schemas.microsoft.com/office/drawing/2014/main" id="{CE8AC474-DD37-4E66-92C7-391BBFC3B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b282692b44cff"/>
          <a:srcRect xmlns:a="http://schemas.openxmlformats.org/drawingml/2006/main" l="50991" t="11940" r="0" b="373"/>
          <a:stretch xmlns:a="http://schemas.openxmlformats.org/drawingml/2006/main"/>
        </p:blipFill>
        <p:spPr>
          <a:xfrm xmlns:a="http://schemas.openxmlformats.org/drawingml/2006/main">
            <a:off x="8515350" y="5048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9" name="Overlay meaning">
            <a:extLst xmlns:a="http://schemas.openxmlformats.org/drawingml/2006/main">
              <a:ext uri="{FF2B5EF4-FFF2-40B4-BE49-F238E27FC236}">
                <a16:creationId xmlns:a16="http://schemas.microsoft.com/office/drawing/2014/main" id="{703A1031-735C-427D-ACDA-B1E3ACCD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2902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B8C4C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8C4CE"/>
                </a:solidFill>
                <a:latin typeface="Calibri"/>
                <a:ea typeface="Calibri"/>
                <a:cs typeface="Calibri"/>
              </a:rPr>
              <a:t>Coarse region for review, mapped from a 28 × 28 anomaly grid</a:t>
            </a:r>
          </a:p>
        </p:txBody>
      </p:sp>
      <p:sp>
        <p:nvSpPr>
          <p:cNvPr id="20" name="Control heading">
            <a:extLst xmlns:a="http://schemas.openxmlformats.org/drawingml/2006/main">
              <a:ext uri="{FF2B5EF4-FFF2-40B4-BE49-F238E27FC236}">
                <a16:creationId xmlns:a16="http://schemas.microsoft.com/office/drawing/2014/main" id="{7BBE3F28-5929-4691-A706-DD36C0EA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909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PC + ARM CONTROL</a:t>
            </a:r>
          </a:p>
        </p:txBody>
      </p:sp>
      <p:sp>
        <p:nvSpPr>
          <p:cNvPr id="21" name="PL heading">
            <a:extLst xmlns:a="http://schemas.openxmlformats.org/drawingml/2006/main">
              <a:ext uri="{FF2B5EF4-FFF2-40B4-BE49-F238E27FC236}">
                <a16:creationId xmlns:a16="http://schemas.microsoft.com/office/drawing/2014/main" id="{D06A99F7-37C3-45E2-99E7-60453501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777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73C30"/>
                </a:solidFill>
                <a:latin typeface="Calibri"/>
                <a:ea typeface="Calibri"/>
                <a:cs typeface="Calibri"/>
              </a:rPr>
              <a:t>FPGA PL / 100 MHz from PS FCLK_CLK0</a:t>
            </a:r>
          </a:p>
        </p:txBody>
      </p:sp>
      <p:sp>
        <p:nvSpPr>
          <p:cNvPr id="22" name="Control rule">
            <a:extLst xmlns:a="http://schemas.openxmlformats.org/drawingml/2006/main">
              <a:ext uri="{FF2B5EF4-FFF2-40B4-BE49-F238E27FC236}">
                <a16:creationId xmlns:a16="http://schemas.microsoft.com/office/drawing/2014/main" id="{B0D67AEF-FF3C-4859-AC87-1BF8059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481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L rule">
            <a:extLst xmlns:a="http://schemas.openxmlformats.org/drawingml/2006/main">
              <a:ext uri="{FF2B5EF4-FFF2-40B4-BE49-F238E27FC236}">
                <a16:creationId xmlns:a16="http://schemas.microsoft.com/office/drawing/2014/main" id="{9D279CDE-AC04-489E-8E80-5338961B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48150"/>
            <a:ext cx="777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C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C stage">
            <a:extLst xmlns:a="http://schemas.openxmlformats.org/drawingml/2006/main">
              <a:ext uri="{FF2B5EF4-FFF2-40B4-BE49-F238E27FC236}">
                <a16:creationId xmlns:a16="http://schemas.microsoft.com/office/drawing/2014/main" id="{3A710A92-32C4-4F16-BC56-7B72970C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719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PC</a:t>
            </a:r>
          </a:p>
        </p:txBody>
      </p:sp>
      <p:sp>
        <p:nvSpPr>
          <p:cNvPr id="25" name="PC duties">
            <a:extLst xmlns:a="http://schemas.openxmlformats.org/drawingml/2006/main">
              <a:ext uri="{FF2B5EF4-FFF2-40B4-BE49-F238E27FC236}">
                <a16:creationId xmlns:a16="http://schemas.microsoft.com/office/drawing/2014/main" id="{D5B47C0B-2B8F-4FED-8B1C-F996B2D6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1962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Motion, capture, RGB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network, overlay, review</a:t>
            </a:r>
          </a:p>
        </p:txBody>
      </p:sp>
      <p:sp>
        <p:nvSpPr>
          <p:cNvPr id="26" name="ARM stage">
            <a:extLst xmlns:a="http://schemas.openxmlformats.org/drawingml/2006/main">
              <a:ext uri="{FF2B5EF4-FFF2-40B4-BE49-F238E27FC236}">
                <a16:creationId xmlns:a16="http://schemas.microsoft.com/office/drawing/2014/main" id="{1207C698-5B96-42CF-A98F-A515216C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719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ARM PS</a:t>
            </a:r>
          </a:p>
        </p:txBody>
      </p:sp>
      <p:sp>
        <p:nvSpPr>
          <p:cNvPr id="27" name="ARM duties">
            <a:extLst xmlns:a="http://schemas.openxmlformats.org/drawingml/2006/main">
              <a:ext uri="{FF2B5EF4-FFF2-40B4-BE49-F238E27FC236}">
                <a16:creationId xmlns:a16="http://schemas.microsoft.com/office/drawing/2014/main" id="{03A2D8A6-4C64-4088-B066-31702DF5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196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Transfer, CRC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and task control</a:t>
            </a:r>
          </a:p>
        </p:txBody>
      </p:sp>
      <p:sp>
        <p:nvSpPr>
          <p:cNvPr id="28" name="Preprocessing stage">
            <a:extLst xmlns:a="http://schemas.openxmlformats.org/drawingml/2006/main">
              <a:ext uri="{FF2B5EF4-FFF2-40B4-BE49-F238E27FC236}">
                <a16:creationId xmlns:a16="http://schemas.microsoft.com/office/drawing/2014/main" id="{BEBF289A-6D83-40E8-BF3B-EA0850F2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7197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73C30"/>
                </a:solidFill>
                <a:latin typeface="Calibri"/>
                <a:ea typeface="Calibri"/>
                <a:cs typeface="Calibri"/>
              </a:rPr>
              <a:t>Resize + normalize</a:t>
            </a:r>
          </a:p>
        </p:txBody>
      </p:sp>
      <p:sp>
        <p:nvSpPr>
          <p:cNvPr id="29" name="Preprocessing detail">
            <a:extLst xmlns:a="http://schemas.openxmlformats.org/drawingml/2006/main">
              <a:ext uri="{FF2B5EF4-FFF2-40B4-BE49-F238E27FC236}">
                <a16:creationId xmlns:a16="http://schemas.microsoft.com/office/drawing/2014/main" id="{38DEFB86-59B2-467E-944B-19D0A28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962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RGB input up to 1024 × 1024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Resize to 224 × 224</a:t>
            </a:r>
          </a:p>
        </p:txBody>
      </p:sp>
      <p:sp>
        <p:nvSpPr>
          <p:cNvPr id="30" name="Feature stage">
            <a:extLst xmlns:a="http://schemas.openxmlformats.org/drawingml/2006/main">
              <a:ext uri="{FF2B5EF4-FFF2-40B4-BE49-F238E27FC236}">
                <a16:creationId xmlns:a16="http://schemas.microsoft.com/office/drawing/2014/main" id="{39EE07DC-5254-4E33-9559-576306B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1933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73C30"/>
                </a:solidFill>
                <a:latin typeface="Calibri"/>
                <a:ea typeface="Calibri"/>
                <a:cs typeface="Calibri"/>
              </a:rPr>
              <a:t>INT8 MobileNetV2</a:t>
            </a:r>
          </a:p>
        </p:txBody>
      </p:sp>
      <p:sp>
        <p:nvSpPr>
          <p:cNvPr id="31" name="Feature detail">
            <a:extLst xmlns:a="http://schemas.openxmlformats.org/drawingml/2006/main">
              <a:ext uri="{FF2B5EF4-FFF2-40B4-BE49-F238E27FC236}">
                <a16:creationId xmlns:a16="http://schemas.microsoft.com/office/drawing/2014/main" id="{3A5CCCDA-2CFA-43F3-8A7D-7892B1BD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9625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Feature extraction</a:t>
            </a:r>
          </a:p>
        </p:txBody>
      </p:sp>
      <p:sp>
        <p:nvSpPr>
          <p:cNvPr id="32" name="Anomaly stage">
            <a:extLst xmlns:a="http://schemas.openxmlformats.org/drawingml/2006/main">
              <a:ext uri="{FF2B5EF4-FFF2-40B4-BE49-F238E27FC236}">
                <a16:creationId xmlns:a16="http://schemas.microsoft.com/office/drawing/2014/main" id="{8501D2BA-150E-4D92-A542-6FE351B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73C30"/>
                </a:solidFill>
                <a:latin typeface="Calibri"/>
                <a:ea typeface="Calibri"/>
                <a:cs typeface="Calibri"/>
              </a:rPr>
              <a:t>Reference-distance scoring</a:t>
            </a:r>
          </a:p>
        </p:txBody>
      </p:sp>
      <p:sp>
        <p:nvSpPr>
          <p:cNvPr id="33" name="Anomaly detail">
            <a:extLst xmlns:a="http://schemas.openxmlformats.org/drawingml/2006/main">
              <a:ext uri="{FF2B5EF4-FFF2-40B4-BE49-F238E27FC236}">
                <a16:creationId xmlns:a16="http://schemas.microsoft.com/office/drawing/2014/main" id="{9EF84585-A75A-411A-89ED-F259ACDF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19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Projection and normal-reference distance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Alarm, 28 × 28 anomaly grid and mapped mask</a:t>
            </a:r>
          </a:p>
        </p:txBody>
      </p:sp>
      <p:sp>
        <p:nvSpPr>
          <p:cNvPr id="38" name="Execution model">
            <a:extLst xmlns:a="http://schemas.openxmlformats.org/drawingml/2006/main">
              <a:ext uri="{FF2B5EF4-FFF2-40B4-BE49-F238E27FC236}">
                <a16:creationId xmlns:a16="http://schemas.microsoft.com/office/drawing/2014/main" id="{5080717A-807E-420B-80AE-97E5C6BE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48250"/>
            <a:ext cx="7772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47-step task graph with DDR tensor storage. All inference-time visual arithmetic runs in PL.</a:t>
            </a:r>
          </a:p>
        </p:txBody>
      </p:sp>
      <p:sp>
        <p:nvSpPr>
          <p:cNvPr id="39" name="Body divider">
            <a:extLst xmlns:a="http://schemas.openxmlformats.org/drawingml/2006/main">
              <a:ext uri="{FF2B5EF4-FFF2-40B4-BE49-F238E27FC236}">
                <a16:creationId xmlns:a16="http://schemas.microsoft.com/office/drawing/2014/main" id="{1DCBCF6F-2BF3-4130-954A-4A1AE45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05425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teger implementation heading">
            <a:extLst xmlns:a="http://schemas.openxmlformats.org/drawingml/2006/main">
              <a:ext uri="{FF2B5EF4-FFF2-40B4-BE49-F238E27FC236}">
                <a16:creationId xmlns:a16="http://schemas.microsoft.com/office/drawing/2014/main" id="{5E6D9015-8A06-486C-AEE3-909BBAC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911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01 / INTEGER ENGINE</a:t>
            </a:r>
          </a:p>
        </p:txBody>
      </p:sp>
      <p:sp>
        <p:nvSpPr>
          <p:cNvPr id="41" name="Integer implementation text">
            <a:extLst xmlns:a="http://schemas.openxmlformats.org/drawingml/2006/main">
              <a:ext uri="{FF2B5EF4-FFF2-40B4-BE49-F238E27FC236}">
                <a16:creationId xmlns:a16="http://schemas.microsoft.com/office/drawing/2014/main" id="{A1BE0D86-11FE-4681-872D-4554B5E4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6737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INT8 weights and features, INT32 convolution sums.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Line buffers and shared compute units fit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the visual pipeline onto one XC7Z020.</a:t>
            </a:r>
          </a:p>
        </p:txBody>
      </p:sp>
      <p:sp>
        <p:nvSpPr>
          <p:cNvPr id="42" name="Resources">
            <a:extLst xmlns:a="http://schemas.openxmlformats.org/drawingml/2006/main">
              <a:ext uri="{FF2B5EF4-FFF2-40B4-BE49-F238E27FC236}">
                <a16:creationId xmlns:a16="http://schemas.microsoft.com/office/drawing/2014/main" id="{78DBF5B6-08E2-4DF7-B8CE-5AD06F2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48400"/>
            <a:ext cx="3333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42,482 LUTs   127.5 BRAMs   218 DSPs</a:t>
            </a:r>
          </a:p>
        </p:txBody>
      </p:sp>
      <p:sp>
        <p:nvSpPr>
          <p:cNvPr id="43" name="Traceability heading">
            <a:extLst xmlns:a="http://schemas.openxmlformats.org/drawingml/2006/main">
              <a:ext uri="{FF2B5EF4-FFF2-40B4-BE49-F238E27FC236}">
                <a16:creationId xmlns:a16="http://schemas.microsoft.com/office/drawing/2014/main" id="{8247CBB1-476A-4582-9ED9-D75F29E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9115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02 / REFERENCE &amp; REVIEW</a:t>
            </a:r>
          </a:p>
        </p:txBody>
      </p:sp>
      <p:sp>
        <p:nvSpPr>
          <p:cNvPr id="44" name="Reference verification text">
            <a:extLst xmlns:a="http://schemas.openxmlformats.org/drawingml/2006/main">
              <a:ext uri="{FF2B5EF4-FFF2-40B4-BE49-F238E27FC236}">
                <a16:creationId xmlns:a16="http://schemas.microsoft.com/office/drawing/2014/main" id="{35B8F9F2-3492-42B9-B0EB-E9AEA13D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67375"/>
            <a:ext cx="388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Valid no-alarm results pass automatically.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Alarms stop for recorded human review.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Missing results or expired checks block release.</a:t>
            </a:r>
          </a:p>
        </p:txBody>
      </p:sp>
      <p:sp>
        <p:nvSpPr>
          <p:cNvPr id="45" name="Workflow step 1">
            <a:extLst xmlns:a="http://schemas.openxmlformats.org/drawingml/2006/main">
              <a:ext uri="{FF2B5EF4-FFF2-40B4-BE49-F238E27FC236}">
                <a16:creationId xmlns:a16="http://schemas.microsoft.com/office/drawing/2014/main" id="{13BDB1E1-A888-46E6-83A4-1D4B67D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2103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Verify</a:t>
            </a:r>
          </a:p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46" name="Workflow step 2">
            <a:extLst xmlns:a="http://schemas.openxmlformats.org/drawingml/2006/main">
              <a:ext uri="{FF2B5EF4-FFF2-40B4-BE49-F238E27FC236}">
                <a16:creationId xmlns:a16="http://schemas.microsoft.com/office/drawing/2014/main" id="{F024BAAB-45F7-4E21-9141-1FB9D328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2103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Capture +</a:t>
            </a:r>
          </a:p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FPGA</a:t>
            </a:r>
          </a:p>
        </p:txBody>
      </p:sp>
      <p:sp>
        <p:nvSpPr>
          <p:cNvPr id="48" name="Workflow step 3">
            <a:extLst xmlns:a="http://schemas.openxmlformats.org/drawingml/2006/main">
              <a:ext uri="{FF2B5EF4-FFF2-40B4-BE49-F238E27FC236}">
                <a16:creationId xmlns:a16="http://schemas.microsoft.com/office/drawing/2014/main" id="{D49788FB-196C-4A83-8BB6-A0EBA2BB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2103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Auto pass /</a:t>
            </a:r>
          </a:p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50" name="Workflow step 4">
            <a:extLst xmlns:a="http://schemas.openxmlformats.org/drawingml/2006/main">
              <a:ext uri="{FF2B5EF4-FFF2-40B4-BE49-F238E27FC236}">
                <a16:creationId xmlns:a16="http://schemas.microsoft.com/office/drawing/2014/main" id="{9F26C890-DED8-4C9F-9C5D-A2713BF9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210300"/>
            <a:ext cx="86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Record /</a:t>
            </a:r>
          </a:p>
          <a:p xmlns:a="http://schemas.openxmlformats.org/drawingml/2006/main">
            <a:pPr algn="ctr">
              <a:buNone/>
              <a:defRPr sz="878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878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isolate</a:t>
            </a:r>
          </a:p>
        </p:txBody>
      </p:sp>
      <p:sp>
        <p:nvSpPr>
          <p:cNvPr id="52" name="Verification heading">
            <a:extLst xmlns:a="http://schemas.openxmlformats.org/drawingml/2006/main">
              <a:ext uri="{FF2B5EF4-FFF2-40B4-BE49-F238E27FC236}">
                <a16:creationId xmlns:a16="http://schemas.microsoft.com/office/drawing/2014/main" id="{C2D51B5A-5D37-44F4-B1A7-968CEC8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03 / DEVELOPMENT-SET RESULTS</a:t>
            </a:r>
          </a:p>
        </p:txBody>
      </p:sp>
      <p:sp>
        <p:nvSpPr>
          <p:cNvPr id="53" name="Verification results">
            <a:extLst xmlns:a="http://schemas.openxmlformats.org/drawingml/2006/main">
              <a:ext uri="{FF2B5EF4-FFF2-40B4-BE49-F238E27FC236}">
                <a16:creationId xmlns:a16="http://schemas.microsoft.com/office/drawing/2014/main" id="{290EF4EF-6BAF-40CA-B14F-EEB7774C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33 normal: 0 observed false alarms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005" b="0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84 defective: 84 detected</a:t>
            </a:r>
          </a:p>
        </p:txBody>
      </p:sp>
      <p:sp>
        <p:nvSpPr>
          <p:cNvPr id="54" name="Accuracy limitation">
            <a:extLst xmlns:a="http://schemas.openxmlformats.org/drawingml/2006/main">
              <a:ext uri="{FF2B5EF4-FFF2-40B4-BE49-F238E27FC236}">
                <a16:creationId xmlns:a16="http://schemas.microsoft.com/office/drawing/2014/main" id="{BCEA388E-86D4-4DAD-9A37-0362F49B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0579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Exposed development set, reused during tuning.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38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These results do not establish independent accuracy.</a:t>
            </a:r>
          </a:p>
        </p:txBody>
      </p:sp>
      <p:sp>
        <p:nvSpPr>
          <p:cNvPr id="55" name="Workflow test">
            <a:extLst xmlns:a="http://schemas.openxmlformats.org/drawingml/2006/main">
              <a:ext uri="{FF2B5EF4-FFF2-40B4-BE49-F238E27FC236}">
                <a16:creationId xmlns:a16="http://schemas.microsoft.com/office/drawing/2014/main" id="{A54EC159-94FF-429B-878C-888A3893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10325"/>
            <a:ext cx="3505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Conveyor: 2 normal pass, 2 defect hold (scripted)</a:t>
            </a:r>
          </a:p>
        </p:txBody>
      </p:sp>
      <p:sp>
        <p:nvSpPr>
          <p:cNvPr id="56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12FE9030-1C11-437E-9854-AEE73F8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Image provenance and next steps">
            <a:extLst xmlns:a="http://schemas.openxmlformats.org/drawingml/2006/main">
              <a:ext uri="{FF2B5EF4-FFF2-40B4-BE49-F238E27FC236}">
                <a16:creationId xmlns:a16="http://schemas.microsoft.com/office/drawing/2014/main" id="{6F45D4C9-9255-4C1D-B07B-59BD59FA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29400"/>
            <a:ext cx="1057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750" b="0">
                <a:solidFill>
                  <a:srgbClr val="52616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2616B"/>
                </a:solidFill>
                <a:latin typeface="Calibri"/>
                <a:ea typeface="Calibri"/>
                <a:cs typeface="Calibri"/>
              </a:rPr>
              <a:t>Photo: MVTec AD tile, CC BY-NC-SA 4.0. Overlay: TileLab FPGA. Camera/light and actuator integration remain future work.</a:t>
            </a:r>
          </a:p>
        </p:txBody>
      </p:sp>
      <p:pic>
        <p:nvPicPr>
          <p:cNvPr id="58" name="图片 57">
            <a:extLst xmlns:a="http://schemas.openxmlformats.org/drawingml/2006/main">
              <a:ext uri="{FF2B5EF4-FFF2-40B4-BE49-F238E27FC236}">
                <a16:creationId xmlns:a16="http://schemas.microsoft.com/office/drawing/2014/main" id="{891F1979-57F6-4347-80AC-DDAF40426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5620670cc42b8"/>
          <a:stretch xmlns:a="http://schemas.openxmlformats.org/drawingml/2006/main"/>
        </p:blipFill>
        <p:spPr>
          <a:xfrm xmlns:a="http://schemas.openxmlformats.org/drawingml/2006/main">
            <a:off x="11249651" y="6629400"/>
            <a:ext cx="598822" cy="14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230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直接箭头连接符 50">
            <a:extLst xmlns:a="http://schemas.openxmlformats.org/drawingml/2006/main">
              <a:ext uri="{FF2B5EF4-FFF2-40B4-BE49-F238E27FC236}">
                <a16:creationId xmlns:a16="http://schemas.microsoft.com/office/drawing/2014/main" id="{7DE5FA64-FD7A-4144-B0B7-5877360AF1BC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6762750" y="6353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49" name="直接箭头连接符 48">
            <a:extLst xmlns:a="http://schemas.openxmlformats.org/drawingml/2006/main">
              <a:ext uri="{FF2B5EF4-FFF2-40B4-BE49-F238E27FC236}">
                <a16:creationId xmlns:a16="http://schemas.microsoft.com/office/drawing/2014/main" id="{F6C8D2C5-55B0-43B7-9EC2-40C329C21DC1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5819775" y="6353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47" name="直接箭头连接符 46">
            <a:extLst xmlns:a="http://schemas.openxmlformats.org/drawingml/2006/main">
              <a:ext uri="{FF2B5EF4-FFF2-40B4-BE49-F238E27FC236}">
                <a16:creationId xmlns:a16="http://schemas.microsoft.com/office/drawing/2014/main" id="{3590AD1B-E335-479C-B012-F62A4441F80E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4876800" y="6353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37" name="直接箭头连接符 36">
            <a:extLst xmlns:a="http://schemas.openxmlformats.org/drawingml/2006/main">
              <a:ext uri="{FF2B5EF4-FFF2-40B4-BE49-F238E27FC236}">
                <a16:creationId xmlns:a16="http://schemas.microsoft.com/office/drawing/2014/main" id="{56B78A68-9846-42E5-9489-932D4C4A8C0C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458200" y="44672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73C30"/>
            </a:solidFill>
            <a:tailEnd type="triangle" w="sm" len="sm"/>
          </a:ln>
        </p:spPr>
      </p:cxnSp>
      <p:cxnSp>
        <p:nvCxnSpPr>
          <p:cNvPr id="36" name="直接箭头连接符 35">
            <a:extLst xmlns:a="http://schemas.openxmlformats.org/drawingml/2006/main">
              <a:ext uri="{FF2B5EF4-FFF2-40B4-BE49-F238E27FC236}">
                <a16:creationId xmlns:a16="http://schemas.microsoft.com/office/drawing/2014/main" id="{A081624B-3564-4955-B796-F80E9DED73DF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248400" y="44672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73C30"/>
            </a:solidFill>
            <a:tailEnd type="triangle" w="sm" len="sm"/>
          </a:ln>
        </p:spPr>
      </p:cxnSp>
      <p:cxnSp>
        <p:nvCxnSpPr>
          <p:cNvPr id="35" name="直接箭头连接符 34">
            <a:extLst xmlns:a="http://schemas.openxmlformats.org/drawingml/2006/main">
              <a:ext uri="{FF2B5EF4-FFF2-40B4-BE49-F238E27FC236}">
                <a16:creationId xmlns:a16="http://schemas.microsoft.com/office/drawing/2014/main" id="{B22482B7-FFC1-4641-9A58-B551829C89B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752850" y="44672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cxnSp>
        <p:nvCxnSpPr>
          <p:cNvPr id="34" name="直接箭头连接符 33">
            <a:extLst xmlns:a="http://schemas.openxmlformats.org/drawingml/2006/main">
              <a:ext uri="{FF2B5EF4-FFF2-40B4-BE49-F238E27FC236}">
                <a16:creationId xmlns:a16="http://schemas.microsoft.com/office/drawing/2014/main" id="{908D33DD-C10A-4790-9FA3-392730024B49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981200" y="44672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616B"/>
            </a:solidFill>
            <a:tailEnd type="triangle" w="sm" len="sm"/>
          </a:ln>
        </p:spPr>
      </p:cxnSp>
      <p:sp>
        <p:nvSpPr>
          <p:cNvPr id="59" name="Dark hero background">
            <a:extLst xmlns:a="http://schemas.openxmlformats.org/drawingml/2006/main">
              <a:ext uri="{FF2B5EF4-FFF2-40B4-BE49-F238E27FC236}">
                <a16:creationId xmlns:a16="http://schemas.microsoft.com/office/drawing/2014/main" id="{99A06778-9ABF-442C-8522-59B47B00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latform eyebrow">
            <a:extLst xmlns:a="http://schemas.openxmlformats.org/drawingml/2006/main">
              <a:ext uri="{FF2B5EF4-FFF2-40B4-BE49-F238E27FC236}">
                <a16:creationId xmlns:a16="http://schemas.microsoft.com/office/drawing/2014/main" id="{01ABC159-CE46-4C62-B9CF-724F1556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PYNQ-Z2 / ZYNQ-7020</a:t>
            </a:r>
          </a:p>
        </p:txBody>
      </p:sp>
      <p:sp>
        <p:nvSpPr>
          <p:cNvPr id="3" name="Project name">
            <a:extLst xmlns:a="http://schemas.openxmlformats.org/drawingml/2006/main">
              <a:ext uri="{FF2B5EF4-FFF2-40B4-BE49-F238E27FC236}">
                <a16:creationId xmlns:a16="http://schemas.microsoft.com/office/drawing/2014/main" id="{41E2EDB3-F04C-4173-9802-592B506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5300"/>
            <a:ext cx="46196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7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多算子低延迟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工业视觉检测系统</a:t>
            </a:r>
          </a:p>
        </p:txBody>
      </p:sp>
      <p:sp>
        <p:nvSpPr>
          <p:cNvPr id="4" name="Project subject">
            <a:extLst xmlns:a="http://schemas.openxmlformats.org/drawingml/2006/main">
              <a:ext uri="{FF2B5EF4-FFF2-40B4-BE49-F238E27FC236}">
                <a16:creationId xmlns:a16="http://schemas.microsoft.com/office/drawing/2014/main" id="{277C583D-555A-4775-82C9-7D3C9D2C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24000"/>
            <a:ext cx="461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FPGA 的瓷砖表面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缺陷筛查系统</a:t>
            </a:r>
          </a:p>
        </p:txBody>
      </p:sp>
      <p:sp>
        <p:nvSpPr>
          <p:cNvPr id="5" name="Project context">
            <a:extLst xmlns:a="http://schemas.openxmlformats.org/drawingml/2006/main">
              <a:ext uri="{FF2B5EF4-FFF2-40B4-BE49-F238E27FC236}">
                <a16:creationId xmlns:a16="http://schemas.microsoft.com/office/drawing/2014/main" id="{0D9B71C2-6539-455D-A19D-8D761AFC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860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真实照片匀速模拟入线，进入检测区即截帧送检。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未报警自动通过，异常在复核区停下等待人工。</a:t>
            </a:r>
          </a:p>
        </p:txBody>
      </p:sp>
      <p:sp>
        <p:nvSpPr>
          <p:cNvPr id="6" name="PL latency">
            <a:extLst xmlns:a="http://schemas.openxmlformats.org/drawingml/2006/main">
              <a:ext uri="{FF2B5EF4-FFF2-40B4-BE49-F238E27FC236}">
                <a16:creationId xmlns:a16="http://schemas.microsoft.com/office/drawing/2014/main" id="{5532695D-B58C-4313-9A30-0CEB4350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67025"/>
            <a:ext cx="140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124.72</a:t>
            </a:r>
          </a:p>
        </p:txBody>
      </p:sp>
      <p:sp>
        <p:nvSpPr>
          <p:cNvPr id="7" name="PL latency unit">
            <a:extLst xmlns:a="http://schemas.openxmlformats.org/drawingml/2006/main">
              <a:ext uri="{FF2B5EF4-FFF2-40B4-BE49-F238E27FC236}">
                <a16:creationId xmlns:a16="http://schemas.microsoft.com/office/drawing/2014/main" id="{C063E79C-5483-404E-9B27-C79884B3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2895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F56657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56657"/>
                </a:solidFill>
                <a:latin typeface="Calibri"/>
                <a:ea typeface="Calibri"/>
                <a:cs typeface="Calibri"/>
              </a:rPr>
              <a:t>ms</a:t>
            </a:r>
          </a:p>
        </p:txBody>
      </p:sp>
      <p:sp>
        <p:nvSpPr>
          <p:cNvPr id="8" name="PL latency label">
            <a:extLst xmlns:a="http://schemas.openxmlformats.org/drawingml/2006/main">
              <a:ext uri="{FF2B5EF4-FFF2-40B4-BE49-F238E27FC236}">
                <a16:creationId xmlns:a16="http://schemas.microsoft.com/office/drawing/2014/main" id="{B8A6DB42-C4A8-4F4C-891F-82DD86F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95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PL 内核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平均耗时</a:t>
            </a:r>
          </a:p>
        </p:txBody>
      </p:sp>
      <p:sp>
        <p:nvSpPr>
          <p:cNvPr id="9" name="Transfer latency">
            <a:extLst xmlns:a="http://schemas.openxmlformats.org/drawingml/2006/main">
              <a:ext uri="{FF2B5EF4-FFF2-40B4-BE49-F238E27FC236}">
                <a16:creationId xmlns:a16="http://schemas.microsoft.com/office/drawing/2014/main" id="{D2E42973-1787-4F0C-9DC7-962FEA1A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67025"/>
            <a:ext cx="140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501.79</a:t>
            </a:r>
          </a:p>
        </p:txBody>
      </p:sp>
      <p:sp>
        <p:nvSpPr>
          <p:cNvPr id="10" name="Transfer latency unit">
            <a:extLst xmlns:a="http://schemas.openxmlformats.org/drawingml/2006/main">
              <a:ext uri="{FF2B5EF4-FFF2-40B4-BE49-F238E27FC236}">
                <a16:creationId xmlns:a16="http://schemas.microsoft.com/office/drawing/2014/main" id="{8AD3F5F1-8154-42F6-9527-E5894EF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ms</a:t>
            </a:r>
          </a:p>
        </p:txBody>
      </p:sp>
      <p:sp>
        <p:nvSpPr>
          <p:cNvPr id="11" name="Transfer latency label">
            <a:extLst xmlns:a="http://schemas.openxmlformats.org/drawingml/2006/main">
              <a:ext uri="{FF2B5EF4-FFF2-40B4-BE49-F238E27FC236}">
                <a16:creationId xmlns:a16="http://schemas.microsoft.com/office/drawing/2014/main" id="{EC437971-3FCC-49E8-886D-C6DB077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传输＋推理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平均耗时</a:t>
            </a:r>
          </a:p>
        </p:txBody>
      </p:sp>
      <p:sp>
        <p:nvSpPr>
          <p:cNvPr id="12" name="Reference result">
            <a:extLst xmlns:a="http://schemas.openxmlformats.org/drawingml/2006/main">
              <a:ext uri="{FF2B5EF4-FFF2-40B4-BE49-F238E27FC236}">
                <a16:creationId xmlns:a16="http://schemas.microsoft.com/office/drawing/2014/main" id="{B8C60C9A-73D3-4485-82A9-9969C2A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6702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117/117</a:t>
            </a:r>
          </a:p>
        </p:txBody>
      </p:sp>
      <p:sp>
        <p:nvSpPr>
          <p:cNvPr id="13" name="Reference result label">
            <a:extLst xmlns:a="http://schemas.openxmlformats.org/drawingml/2006/main">
              <a:ext uri="{FF2B5EF4-FFF2-40B4-BE49-F238E27FC236}">
                <a16:creationId xmlns:a16="http://schemas.microsoft.com/office/drawing/2014/main" id="{696457F3-9D11-4669-9FB0-C93B049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1457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图像输出与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参考结果一致</a:t>
            </a:r>
          </a:p>
        </p:txBody>
      </p:sp>
      <p:sp>
        <p:nvSpPr>
          <p:cNvPr id="14" name="Reference set label">
            <a:extLst xmlns:a="http://schemas.openxmlformats.org/drawingml/2006/main">
              <a:ext uri="{FF2B5EF4-FFF2-40B4-BE49-F238E27FC236}">
                <a16:creationId xmlns:a16="http://schemas.microsoft.com/office/drawing/2014/main" id="{7E3C3B73-7C8C-43D2-95D4-EB70D82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38550"/>
            <a:ext cx="1457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117 张开发集图像</a:t>
            </a:r>
          </a:p>
        </p:txBody>
      </p:sp>
      <p:sp>
        <p:nvSpPr>
          <p:cNvPr id="15" name="Before photo label">
            <a:extLst xmlns:a="http://schemas.openxmlformats.org/drawingml/2006/main">
              <a:ext uri="{FF2B5EF4-FFF2-40B4-BE49-F238E27FC236}">
                <a16:creationId xmlns:a16="http://schemas.microsoft.com/office/drawing/2014/main" id="{F5182EF6-A458-457B-B851-0804AA62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01   瓷砖原始图像</a:t>
            </a:r>
          </a:p>
        </p:txBody>
      </p:sp>
      <p:sp>
        <p:nvSpPr>
          <p:cNvPr id="16" name="After photo label">
            <a:extLst xmlns:a="http://schemas.openxmlformats.org/drawingml/2006/main">
              <a:ext uri="{FF2B5EF4-FFF2-40B4-BE49-F238E27FC236}">
                <a16:creationId xmlns:a16="http://schemas.microsoft.com/office/drawing/2014/main" id="{8C7CDCE6-4B45-48EC-96B0-53949CD8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6657"/>
                </a:solidFill>
                <a:latin typeface="Microsoft YaHei"/>
                <a:ea typeface="Microsoft YaHei"/>
                <a:cs typeface="Microsoft YaHei"/>
              </a:rPr>
              <a:t>02   FPGA 异常区域叠加</a:t>
            </a: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F123D869-D9F0-40CA-96B2-23698E39D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29d2d692d4d13"/>
          <a:srcRect xmlns:a="http://schemas.openxmlformats.org/drawingml/2006/main" l="104" t="7463" r="50886" b="4851"/>
          <a:stretch xmlns:a="http://schemas.openxmlformats.org/drawingml/2006/main"/>
        </p:blipFill>
        <p:spPr>
          <a:xfrm xmlns:a="http://schemas.openxmlformats.org/drawingml/2006/main">
            <a:off x="5276850" y="504825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18" name="图片 17">
            <a:extLst xmlns:a="http://schemas.openxmlformats.org/drawingml/2006/main">
              <a:ext uri="{FF2B5EF4-FFF2-40B4-BE49-F238E27FC236}">
                <a16:creationId xmlns:a16="http://schemas.microsoft.com/office/drawing/2014/main" id="{AE217496-DB60-4234-A966-2F4838A2C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29d2d692d4d13"/>
          <a:srcRect xmlns:a="http://schemas.openxmlformats.org/drawingml/2006/main" l="50991" t="11940" r="0" b="373"/>
          <a:stretch xmlns:a="http://schemas.openxmlformats.org/drawingml/2006/main"/>
        </p:blipFill>
        <p:spPr>
          <a:xfrm xmlns:a="http://schemas.openxmlformats.org/drawingml/2006/main">
            <a:off x="8515350" y="5048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9" name="Overlay meaning">
            <a:extLst xmlns:a="http://schemas.openxmlformats.org/drawingml/2006/main">
              <a:ext uri="{FF2B5EF4-FFF2-40B4-BE49-F238E27FC236}">
                <a16:creationId xmlns:a16="http://schemas.microsoft.com/office/drawing/2014/main" id="{87BB7163-80D4-49D7-9D88-02BED7D3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2902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C4CE"/>
                </a:solidFill>
                <a:latin typeface="Microsoft YaHei"/>
                <a:ea typeface="Microsoft YaHei"/>
                <a:cs typeface="Microsoft YaHei"/>
              </a:rPr>
              <a:t>由 28 × 28 异常网格映射的粗粒度区域，供复核使用</a:t>
            </a:r>
          </a:p>
        </p:txBody>
      </p:sp>
      <p:sp>
        <p:nvSpPr>
          <p:cNvPr id="20" name="Control heading">
            <a:extLst xmlns:a="http://schemas.openxmlformats.org/drawingml/2006/main">
              <a:ext uri="{FF2B5EF4-FFF2-40B4-BE49-F238E27FC236}">
                <a16:creationId xmlns:a16="http://schemas.microsoft.com/office/drawing/2014/main" id="{4C3F508F-97FA-425E-88F8-DD2362F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909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PC＋ARM 控制</a:t>
            </a:r>
          </a:p>
        </p:txBody>
      </p:sp>
      <p:sp>
        <p:nvSpPr>
          <p:cNvPr id="21" name="PL heading">
            <a:extLst xmlns:a="http://schemas.openxmlformats.org/drawingml/2006/main">
              <a:ext uri="{FF2B5EF4-FFF2-40B4-BE49-F238E27FC236}">
                <a16:creationId xmlns:a16="http://schemas.microsoft.com/office/drawing/2014/main" id="{5384647D-A706-4021-BC77-5BD3D90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777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rPr>
              <a:t>FPGA PL / 100 MHz，时钟来自 PS FCLK_CLK0</a:t>
            </a:r>
          </a:p>
        </p:txBody>
      </p:sp>
      <p:sp>
        <p:nvSpPr>
          <p:cNvPr id="22" name="Control rule">
            <a:extLst xmlns:a="http://schemas.openxmlformats.org/drawingml/2006/main">
              <a:ext uri="{FF2B5EF4-FFF2-40B4-BE49-F238E27FC236}">
                <a16:creationId xmlns:a16="http://schemas.microsoft.com/office/drawing/2014/main" id="{4E0E5620-27DA-4AE2-B058-102B94ED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481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L rule">
            <a:extLst xmlns:a="http://schemas.openxmlformats.org/drawingml/2006/main">
              <a:ext uri="{FF2B5EF4-FFF2-40B4-BE49-F238E27FC236}">
                <a16:creationId xmlns:a16="http://schemas.microsoft.com/office/drawing/2014/main" id="{84A50E92-1EF7-40C4-A68F-D50007DA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48150"/>
            <a:ext cx="777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C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C stage">
            <a:extLst xmlns:a="http://schemas.openxmlformats.org/drawingml/2006/main">
              <a:ext uri="{FF2B5EF4-FFF2-40B4-BE49-F238E27FC236}">
                <a16:creationId xmlns:a16="http://schemas.microsoft.com/office/drawing/2014/main" id="{106A9C6C-5361-4854-9076-A1A7F60D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719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PC</a:t>
            </a:r>
          </a:p>
        </p:txBody>
      </p:sp>
      <p:sp>
        <p:nvSpPr>
          <p:cNvPr id="25" name="PC duties">
            <a:extLst xmlns:a="http://schemas.openxmlformats.org/drawingml/2006/main">
              <a:ext uri="{FF2B5EF4-FFF2-40B4-BE49-F238E27FC236}">
                <a16:creationId xmlns:a16="http://schemas.microsoft.com/office/drawing/2014/main" id="{FA68D370-BA23-4468-8B5A-2F4A75F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1962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输送截帧、RGB 打包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显示、自动通过和复核</a:t>
            </a:r>
          </a:p>
        </p:txBody>
      </p:sp>
      <p:sp>
        <p:nvSpPr>
          <p:cNvPr id="26" name="ARM stage">
            <a:extLst xmlns:a="http://schemas.openxmlformats.org/drawingml/2006/main">
              <a:ext uri="{FF2B5EF4-FFF2-40B4-BE49-F238E27FC236}">
                <a16:creationId xmlns:a16="http://schemas.microsoft.com/office/drawing/2014/main" id="{09915DDC-3757-4643-85CB-1AF688FA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719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ARM PS</a:t>
            </a:r>
          </a:p>
        </p:txBody>
      </p:sp>
      <p:sp>
        <p:nvSpPr>
          <p:cNvPr id="27" name="ARM duties">
            <a:extLst xmlns:a="http://schemas.openxmlformats.org/drawingml/2006/main">
              <a:ext uri="{FF2B5EF4-FFF2-40B4-BE49-F238E27FC236}">
                <a16:creationId xmlns:a16="http://schemas.microsoft.com/office/drawing/2014/main" id="{53EA993F-A8E3-45D3-AE2E-1530F21C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196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数据传输、CRC 校验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与任务控制</a:t>
            </a:r>
          </a:p>
        </p:txBody>
      </p:sp>
      <p:sp>
        <p:nvSpPr>
          <p:cNvPr id="28" name="Preprocessing stage">
            <a:extLst xmlns:a="http://schemas.openxmlformats.org/drawingml/2006/main">
              <a:ext uri="{FF2B5EF4-FFF2-40B4-BE49-F238E27FC236}">
                <a16:creationId xmlns:a16="http://schemas.microsoft.com/office/drawing/2014/main" id="{45410EB1-CF72-412D-AF45-A8A8CE07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7197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rPr>
              <a:t>缩放与归一化</a:t>
            </a:r>
          </a:p>
        </p:txBody>
      </p:sp>
      <p:sp>
        <p:nvSpPr>
          <p:cNvPr id="29" name="Preprocessing detail">
            <a:extLst xmlns:a="http://schemas.openxmlformats.org/drawingml/2006/main">
              <a:ext uri="{FF2B5EF4-FFF2-40B4-BE49-F238E27FC236}">
                <a16:creationId xmlns:a16="http://schemas.microsoft.com/office/drawing/2014/main" id="{91D4DB9C-8A2B-48B4-BF9E-0135FFC0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962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RGB 输入最大 1024 × 1024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缩放至 224 × 224</a:t>
            </a:r>
          </a:p>
        </p:txBody>
      </p:sp>
      <p:sp>
        <p:nvSpPr>
          <p:cNvPr id="30" name="Feature stage">
            <a:extLst xmlns:a="http://schemas.openxmlformats.org/drawingml/2006/main">
              <a:ext uri="{FF2B5EF4-FFF2-40B4-BE49-F238E27FC236}">
                <a16:creationId xmlns:a16="http://schemas.microsoft.com/office/drawing/2014/main" id="{3A97DB4D-3D7C-490C-8353-B3581B6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1933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73C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73C30"/>
                </a:solidFill>
                <a:latin typeface="Calibri"/>
                <a:ea typeface="Calibri"/>
                <a:cs typeface="Calibri"/>
              </a:rPr>
              <a:t>INT8 MobileNetV2</a:t>
            </a:r>
          </a:p>
        </p:txBody>
      </p:sp>
      <p:sp>
        <p:nvSpPr>
          <p:cNvPr id="31" name="Feature detail">
            <a:extLst xmlns:a="http://schemas.openxmlformats.org/drawingml/2006/main">
              <a:ext uri="{FF2B5EF4-FFF2-40B4-BE49-F238E27FC236}">
                <a16:creationId xmlns:a16="http://schemas.microsoft.com/office/drawing/2014/main" id="{FFB9D2AA-F41B-415B-BF14-6CEC7BE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9625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特征提取</a:t>
            </a:r>
          </a:p>
        </p:txBody>
      </p:sp>
      <p:sp>
        <p:nvSpPr>
          <p:cNvPr id="32" name="Anomaly stage">
            <a:extLst xmlns:a="http://schemas.openxmlformats.org/drawingml/2006/main">
              <a:ext uri="{FF2B5EF4-FFF2-40B4-BE49-F238E27FC236}">
                <a16:creationId xmlns:a16="http://schemas.microsoft.com/office/drawing/2014/main" id="{8D8EB697-F889-4E41-8DCF-7ADAC3E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3C30"/>
                </a:solidFill>
                <a:latin typeface="Microsoft YaHei"/>
                <a:ea typeface="Microsoft YaHei"/>
                <a:cs typeface="Microsoft YaHei"/>
              </a:rPr>
              <a:t>参考距离异常评分</a:t>
            </a:r>
          </a:p>
        </p:txBody>
      </p:sp>
      <p:sp>
        <p:nvSpPr>
          <p:cNvPr id="33" name="Anomaly detail">
            <a:extLst xmlns:a="http://schemas.openxmlformats.org/drawingml/2006/main">
              <a:ext uri="{FF2B5EF4-FFF2-40B4-BE49-F238E27FC236}">
                <a16:creationId xmlns:a16="http://schemas.microsoft.com/office/drawing/2014/main" id="{765C2CE6-54F2-4D7A-A566-D3C3487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19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特征投影与正常参考距离计算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报警、28 × 28 异常网格及映射掩膜</a:t>
            </a:r>
          </a:p>
        </p:txBody>
      </p:sp>
      <p:sp>
        <p:nvSpPr>
          <p:cNvPr id="38" name="Execution model">
            <a:extLst xmlns:a="http://schemas.openxmlformats.org/drawingml/2006/main">
              <a:ext uri="{FF2B5EF4-FFF2-40B4-BE49-F238E27FC236}">
                <a16:creationId xmlns:a16="http://schemas.microsoft.com/office/drawing/2014/main" id="{928E9B14-7363-44EE-A833-6605ABE6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48250"/>
            <a:ext cx="7772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47 步任务图，DDR 存储张量。推理阶段的全部视觉运算均在 PL 中完成。</a:t>
            </a:r>
          </a:p>
        </p:txBody>
      </p:sp>
      <p:sp>
        <p:nvSpPr>
          <p:cNvPr id="39" name="Body divider">
            <a:extLst xmlns:a="http://schemas.openxmlformats.org/drawingml/2006/main">
              <a:ext uri="{FF2B5EF4-FFF2-40B4-BE49-F238E27FC236}">
                <a16:creationId xmlns:a16="http://schemas.microsoft.com/office/drawing/2014/main" id="{E4E34838-0C1F-4118-A96E-B9B50B25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05425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teger implementation heading">
            <a:extLst xmlns:a="http://schemas.openxmlformats.org/drawingml/2006/main">
              <a:ext uri="{FF2B5EF4-FFF2-40B4-BE49-F238E27FC236}">
                <a16:creationId xmlns:a16="http://schemas.microsoft.com/office/drawing/2014/main" id="{04CF0156-0F6B-4904-A96D-E4940AF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911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01 / 整数计算引擎</a:t>
            </a:r>
          </a:p>
        </p:txBody>
      </p:sp>
      <p:sp>
        <p:nvSpPr>
          <p:cNvPr id="41" name="Integer implementation text">
            <a:extLst xmlns:a="http://schemas.openxmlformats.org/drawingml/2006/main">
              <a:ext uri="{FF2B5EF4-FFF2-40B4-BE49-F238E27FC236}">
                <a16:creationId xmlns:a16="http://schemas.microsoft.com/office/drawing/2014/main" id="{18544BA8-602D-48B8-BB05-9DCBEC8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6737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权重与特征采用 INT8，卷积累加采用 INT32。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通过行缓冲与计算单元复用，将视觉处理流程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部署在单颗 XC7Z020 上。</a:t>
            </a:r>
          </a:p>
        </p:txBody>
      </p:sp>
      <p:sp>
        <p:nvSpPr>
          <p:cNvPr id="42" name="Resources">
            <a:extLst xmlns:a="http://schemas.openxmlformats.org/drawingml/2006/main">
              <a:ext uri="{FF2B5EF4-FFF2-40B4-BE49-F238E27FC236}">
                <a16:creationId xmlns:a16="http://schemas.microsoft.com/office/drawing/2014/main" id="{FD4AD2BD-F7CA-4726-A09E-C98C1E07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48400"/>
            <a:ext cx="3333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11E2A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11E2A"/>
                </a:solidFill>
                <a:latin typeface="Calibri"/>
                <a:ea typeface="Calibri"/>
                <a:cs typeface="Calibri"/>
              </a:rPr>
              <a:t>42,482 LUTs   127.5 BRAMs   218 DSPs</a:t>
            </a:r>
          </a:p>
        </p:txBody>
      </p:sp>
      <p:sp>
        <p:nvSpPr>
          <p:cNvPr id="43" name="Traceability heading">
            <a:extLst xmlns:a="http://schemas.openxmlformats.org/drawingml/2006/main">
              <a:ext uri="{FF2B5EF4-FFF2-40B4-BE49-F238E27FC236}">
                <a16:creationId xmlns:a16="http://schemas.microsoft.com/office/drawing/2014/main" id="{42A5C909-838D-4DCB-8F93-94AA1D4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9115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02 / 参考验证与复核</a:t>
            </a:r>
          </a:p>
        </p:txBody>
      </p:sp>
      <p:sp>
        <p:nvSpPr>
          <p:cNvPr id="44" name="Reference verification text">
            <a:extLst xmlns:a="http://schemas.openxmlformats.org/drawingml/2006/main">
              <a:ext uri="{FF2B5EF4-FFF2-40B4-BE49-F238E27FC236}">
                <a16:creationId xmlns:a16="http://schemas.microsoft.com/office/drawing/2014/main" id="{44CCE3E2-C3A1-4D80-85B3-B1A7A26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67375"/>
            <a:ext cx="388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未报警且工位核验有效时自动通过。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异常停驻后由人工复核并留档。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结果缺失、参照不匹配或过期时阻止放行。</a:t>
            </a:r>
          </a:p>
        </p:txBody>
      </p:sp>
      <p:sp>
        <p:nvSpPr>
          <p:cNvPr id="45" name="Workflow step 1">
            <a:extLst xmlns:a="http://schemas.openxmlformats.org/drawingml/2006/main">
              <a:ext uri="{FF2B5EF4-FFF2-40B4-BE49-F238E27FC236}">
                <a16:creationId xmlns:a16="http://schemas.microsoft.com/office/drawing/2014/main" id="{232C122D-9081-470C-9CAA-D30BE92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2103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参考</a:t>
            </a:r>
          </a:p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6" name="Workflow step 2">
            <a:extLst xmlns:a="http://schemas.openxmlformats.org/drawingml/2006/main">
              <a:ext uri="{FF2B5EF4-FFF2-40B4-BE49-F238E27FC236}">
                <a16:creationId xmlns:a16="http://schemas.microsoft.com/office/drawing/2014/main" id="{288B9E66-527E-4B39-9E59-F3F1D147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2103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截帧／</a:t>
            </a:r>
          </a:p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FPGA</a:t>
            </a:r>
          </a:p>
        </p:txBody>
      </p:sp>
      <p:sp>
        <p:nvSpPr>
          <p:cNvPr id="48" name="Workflow step 3">
            <a:extLst xmlns:a="http://schemas.openxmlformats.org/drawingml/2006/main">
              <a:ext uri="{FF2B5EF4-FFF2-40B4-BE49-F238E27FC236}">
                <a16:creationId xmlns:a16="http://schemas.microsoft.com/office/drawing/2014/main" id="{54F9D1D9-6805-43FA-884D-2CFE190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2103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自动通过／</a:t>
            </a:r>
          </a:p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异常复核</a:t>
            </a:r>
          </a:p>
        </p:txBody>
      </p:sp>
      <p:sp>
        <p:nvSpPr>
          <p:cNvPr id="50" name="Workflow step 4">
            <a:extLst xmlns:a="http://schemas.openxmlformats.org/drawingml/2006/main">
              <a:ext uri="{FF2B5EF4-FFF2-40B4-BE49-F238E27FC236}">
                <a16:creationId xmlns:a16="http://schemas.microsoft.com/office/drawing/2014/main" id="{CD45F5D0-F62A-4AD9-AE2A-F7A6F32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210300"/>
            <a:ext cx="86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9525">
            <a:solidFill>
              <a:srgbClr val="D9DEDE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留档／</a:t>
            </a:r>
          </a:p>
          <a:p xmlns:a="http://schemas.openxmlformats.org/drawingml/2006/main">
            <a:pPr algn="ctr">
              <a:buNone/>
              <a:def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隔离</a:t>
            </a:r>
          </a:p>
        </p:txBody>
      </p:sp>
      <p:sp>
        <p:nvSpPr>
          <p:cNvPr id="52" name="Verification heading">
            <a:extLst xmlns:a="http://schemas.openxmlformats.org/drawingml/2006/main">
              <a:ext uri="{FF2B5EF4-FFF2-40B4-BE49-F238E27FC236}">
                <a16:creationId xmlns:a16="http://schemas.microsoft.com/office/drawing/2014/main" id="{21889990-A313-484A-8D71-DEFA3BA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03 / 开发集验证结果</a:t>
            </a:r>
          </a:p>
        </p:txBody>
      </p:sp>
      <p:sp>
        <p:nvSpPr>
          <p:cNvPr id="53" name="Verification results">
            <a:extLst xmlns:a="http://schemas.openxmlformats.org/drawingml/2006/main">
              <a:ext uri="{FF2B5EF4-FFF2-40B4-BE49-F238E27FC236}">
                <a16:creationId xmlns:a16="http://schemas.microsoft.com/office/drawing/2014/main" id="{9AFC36DE-6BFC-4B6F-AF05-90D3F386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33 张正常图像：未观察到误报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111E2A"/>
                </a:solidFill>
                <a:latin typeface="Microsoft YaHei"/>
                <a:ea typeface="Microsoft YaHei"/>
                <a:cs typeface="Microsoft YaHei"/>
              </a:rPr>
              <a:t>84 张缺陷图像：检出 84 张</a:t>
            </a:r>
          </a:p>
        </p:txBody>
      </p:sp>
      <p:sp>
        <p:nvSpPr>
          <p:cNvPr id="54" name="Accuracy limitation">
            <a:extLst xmlns:a="http://schemas.openxmlformats.org/drawingml/2006/main">
              <a:ext uri="{FF2B5EF4-FFF2-40B4-BE49-F238E27FC236}">
                <a16:creationId xmlns:a16="http://schemas.microsoft.com/office/drawing/2014/main" id="{0E561D50-A525-4162-AB9F-278711D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0579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开发集已在调参过程中反复使用。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上述结果不能代表独立测试准确率。</a:t>
            </a:r>
          </a:p>
        </p:txBody>
      </p:sp>
      <p:sp>
        <p:nvSpPr>
          <p:cNvPr id="55" name="Workflow test">
            <a:extLst xmlns:a="http://schemas.openxmlformats.org/drawingml/2006/main">
              <a:ext uri="{FF2B5EF4-FFF2-40B4-BE49-F238E27FC236}">
                <a16:creationId xmlns:a16="http://schemas.microsoft.com/office/drawing/2014/main" id="{DA698E8D-9F86-4210-8DA9-1FC35595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10325"/>
            <a:ext cx="3505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匀速实板回放：2 正常通过、2 缺陷停驻（非人工）</a:t>
            </a:r>
          </a:p>
        </p:txBody>
      </p:sp>
      <p:sp>
        <p:nvSpPr>
          <p:cNvPr id="56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9E7A243D-0B92-4443-8C55-6DB6A90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Image provenance and next steps">
            <a:extLst xmlns:a="http://schemas.openxmlformats.org/drawingml/2006/main">
              <a:ext uri="{FF2B5EF4-FFF2-40B4-BE49-F238E27FC236}">
                <a16:creationId xmlns:a16="http://schemas.microsoft.com/office/drawing/2014/main" id="{B5D720F1-66B9-4937-A24C-FE02D7A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29400"/>
            <a:ext cx="1057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照片：MVTec AD tile（CC BY-NC-SA 4.0）。叠加图：TileLab FPGA。相机、光照及执行器集成有待完成。</a:t>
            </a:r>
          </a:p>
        </p:txBody>
      </p:sp>
      <p:pic>
        <p:nvPicPr>
          <p:cNvPr id="58" name="图片 57">
            <a:extLst xmlns:a="http://schemas.openxmlformats.org/drawingml/2006/main">
              <a:ext uri="{FF2B5EF4-FFF2-40B4-BE49-F238E27FC236}">
                <a16:creationId xmlns:a16="http://schemas.microsoft.com/office/drawing/2014/main" id="{B4000985-5259-43A9-B585-64B9ECE93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edbb2115a4bdc"/>
          <a:stretch xmlns:a="http://schemas.openxmlformats.org/drawingml/2006/main"/>
        </p:blipFill>
        <p:spPr>
          <a:xfrm xmlns:a="http://schemas.openxmlformats.org/drawingml/2006/main">
            <a:off x="11249651" y="6629400"/>
            <a:ext cx="598822" cy="14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59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2026-10-31T16:49:52.9760000Z</dcterms:created>
  <dcterms:modified xsi:type="dcterms:W3CDTF">2026-10-31T16:49:52.9760000Z</dcterms:modified>
</coreProperties>
</file>